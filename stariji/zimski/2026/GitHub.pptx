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Figtree"/>
      <p:regular r:id="rId26"/>
      <p:bold r:id="rId27"/>
      <p:italic r:id="rId28"/>
      <p:boldItalic r:id="rId29"/>
    </p:embeddedFont>
    <p:embeddedFont>
      <p:font typeface="Figtree Black"/>
      <p:bold r:id="rId30"/>
      <p:boldItalic r:id="rId31"/>
    </p:embeddedFont>
    <p:embeddedFont>
      <p:font typeface="Hanken Grotesk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-regular.fntdata"/><Relationship Id="rId25" Type="http://schemas.openxmlformats.org/officeDocument/2006/relationships/slide" Target="slides/slide20.xml"/><Relationship Id="rId28" Type="http://schemas.openxmlformats.org/officeDocument/2006/relationships/font" Target="fonts/Figtree-italic.fntdata"/><Relationship Id="rId27" Type="http://schemas.openxmlformats.org/officeDocument/2006/relationships/font" Target="fonts/Figtre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Black-boldItalic.fntdata"/><Relationship Id="rId30" Type="http://schemas.openxmlformats.org/officeDocument/2006/relationships/font" Target="fonts/FigtreeBlack-bold.fntdata"/><Relationship Id="rId11" Type="http://schemas.openxmlformats.org/officeDocument/2006/relationships/slide" Target="slides/slide6.xml"/><Relationship Id="rId33" Type="http://schemas.openxmlformats.org/officeDocument/2006/relationships/font" Target="fonts/HankenGrotesk-bold.fntdata"/><Relationship Id="rId10" Type="http://schemas.openxmlformats.org/officeDocument/2006/relationships/slide" Target="slides/slide5.xml"/><Relationship Id="rId32" Type="http://schemas.openxmlformats.org/officeDocument/2006/relationships/font" Target="fonts/HankenGrotesk-regular.fntdata"/><Relationship Id="rId13" Type="http://schemas.openxmlformats.org/officeDocument/2006/relationships/slide" Target="slides/slide8.xml"/><Relationship Id="rId35" Type="http://schemas.openxmlformats.org/officeDocument/2006/relationships/font" Target="fonts/HankenGrotesk-boldItalic.fntdata"/><Relationship Id="rId12" Type="http://schemas.openxmlformats.org/officeDocument/2006/relationships/slide" Target="slides/slide7.xml"/><Relationship Id="rId34" Type="http://schemas.openxmlformats.org/officeDocument/2006/relationships/font" Target="fonts/HankenGrotesk-italic.fntdata"/><Relationship Id="rId15" Type="http://schemas.openxmlformats.org/officeDocument/2006/relationships/slide" Target="slides/slide10.xml"/><Relationship Id="rId37" Type="http://schemas.openxmlformats.org/officeDocument/2006/relationships/font" Target="fonts/Lato-bold.fntdata"/><Relationship Id="rId14" Type="http://schemas.openxmlformats.org/officeDocument/2006/relationships/slide" Target="slides/slide9.xml"/><Relationship Id="rId36" Type="http://schemas.openxmlformats.org/officeDocument/2006/relationships/font" Target="fonts/Lato-regular.fntdata"/><Relationship Id="rId17" Type="http://schemas.openxmlformats.org/officeDocument/2006/relationships/slide" Target="slides/slide12.xml"/><Relationship Id="rId39" Type="http://schemas.openxmlformats.org/officeDocument/2006/relationships/font" Target="fonts/Lato-boldItalic.fntdata"/><Relationship Id="rId16" Type="http://schemas.openxmlformats.org/officeDocument/2006/relationships/slide" Target="slides/slide11.xml"/><Relationship Id="rId38" Type="http://schemas.openxmlformats.org/officeDocument/2006/relationships/font" Target="fonts/La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jovanajanjatovic/vezba2.git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68ca7ef4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68ca7ef4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1f85086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1f85086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27a2a8c6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27a2a8c6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Git je alat (program)</a:t>
            </a:r>
            <a:r>
              <a:rPr lang="en">
                <a:solidFill>
                  <a:schemeClr val="dk1"/>
                </a:solidFill>
              </a:rPr>
              <a:t> za </a:t>
            </a:r>
            <a:r>
              <a:rPr b="1" lang="en">
                <a:solidFill>
                  <a:schemeClr val="dk1"/>
                </a:solidFill>
              </a:rPr>
              <a:t>kontrolu verzija</a:t>
            </a:r>
            <a:r>
              <a:rPr lang="en">
                <a:solidFill>
                  <a:schemeClr val="dk1"/>
                </a:solidFill>
              </a:rPr>
              <a:t>. Instalira se na tvoj računar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Pamti istoriju izmena (commit-e) Omogućava da se vratiš na staru verziju koda. Radi </a:t>
            </a:r>
            <a:r>
              <a:rPr b="1" lang="en">
                <a:solidFill>
                  <a:schemeClr val="dk1"/>
                </a:solidFill>
              </a:rPr>
              <a:t>lokalno</a:t>
            </a:r>
            <a:r>
              <a:rPr lang="en">
                <a:solidFill>
                  <a:schemeClr val="dk1"/>
                </a:solidFill>
              </a:rPr>
              <a:t>, čak i bez interneta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GitHub je platforma / servis na internetu</a:t>
            </a:r>
            <a:r>
              <a:rPr lang="en">
                <a:solidFill>
                  <a:schemeClr val="dk1"/>
                </a:solidFill>
              </a:rPr>
              <a:t> koji koristi Git.Čuva Git repozitorijume </a:t>
            </a:r>
            <a:r>
              <a:rPr b="1" lang="en">
                <a:solidFill>
                  <a:schemeClr val="dk1"/>
                </a:solidFill>
              </a:rPr>
              <a:t>online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Omogućava </a:t>
            </a:r>
            <a:r>
              <a:rPr b="1" lang="en">
                <a:solidFill>
                  <a:schemeClr val="dk1"/>
                </a:solidFill>
              </a:rPr>
              <a:t>saradnju</a:t>
            </a:r>
            <a:r>
              <a:rPr lang="en">
                <a:solidFill>
                  <a:schemeClr val="dk1"/>
                </a:solidFill>
              </a:rPr>
              <a:t> (više ljudi, isti projekat)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Ima pull requestove, issue-e, review koda…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Backup – ako ti crkne laptop, kod je bezbedan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27a2a8c6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c27a2a8c6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pre radionice su napravili naloge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udjem u svoj nalog, pokazem gde stoje repo, onu aktivnost spomenem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-koji terminal za druge 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Skriveni fajlovi?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Mozda da vidim sta koja skracenica znaci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push ili git push origin master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Intsaliraju git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-napravimo na githubu repo, kopiram url,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git --version da proverim jel imaju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Naprave foledar koji hoce da povezu za githubom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 terminalu udju u njega, cd pa adresa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 da vidimo jesu ti svi fajlovi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init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 -Force ovako vidimo skrivene fajlove tj sve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git remote add origin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https://github.com/jovanajanjatovic/vezba2.git</a:t>
            </a:r>
            <a:r>
              <a:rPr lang="en"/>
              <a:t> - url sa githuba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git branch -m master main - ako mi se desi da mi napravi dve razlicite grane na githubu i u lokalu, master i main, onda ovako preimenujem samo master u main i radim u njemu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c917ffe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bc917ffe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294effca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c294effca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27a2a8c6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c27a2a8c6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27a2a8c6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c27a2a8c6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27a2a8c6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c27a2a8c6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27a2a8c6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c27a2a8c6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294effca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c294effca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294effca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c294effca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c8dd6126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bc8dd6126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c917ffe4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c917ffe4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c8dd6126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bc8dd6126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c8ebf7c88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bc8ebf7c8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c8ebf7c88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bc8ebf7c88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c8ebf7c88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bc8ebf7c88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c8ebf7c88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bc8ebf7c88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66e34ea9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66e34ea9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56" name="Google Shape;56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7" name="Google Shape;57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7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" name="Google Shape;59;p7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8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9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" name="Google Shape;85;p11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" name="Google Shape;94;p13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hasCustomPrompt="1"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hasCustomPrompt="1"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" name="Google Shape;119;p14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4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24" name="Google Shape;124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" name="Google Shape;126;p15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5" name="Google Shape;135;p16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140" name="Google Shape;140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1" name="Google Shape;141;p1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7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" name="Google Shape;143;p1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8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48" name="Google Shape;148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" name="Google Shape;149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8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18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9" name="Google Shape;15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169" name="Google Shape;169;p20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0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3" name="Google Shape;173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" name="Google Shape;176;p20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2" name="Google Shape;182;p20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21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186" name="Google Shape;186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" name="Google Shape;187;p21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1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4" name="Google Shape;194;p21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99" name="Google Shape;199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" name="Google Shape;200;p22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2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" name="Google Shape;20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3" name="Google Shape;203;p22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2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2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2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8" name="Google Shape;208;p22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7" name="Google Shape;217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3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3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3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3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3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4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233" name="Google Shape;233;p24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234" name="Google Shape;234;p24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5" name="Google Shape;235;p24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36" name="Google Shape;236;p24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7" name="Google Shape;237;p24"/>
          <p:cNvSpPr txBox="1"/>
          <p:nvPr>
            <p:ph hasCustomPrompt="1"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24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hasCustomPrompt="1"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24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hasCustomPrompt="1"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24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5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46" name="Google Shape;246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7" name="Google Shape;247;p2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6" name="Google Shape;256;p2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3" name="Google Shape;263;p27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7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 by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ctrTitle"/>
          </p:nvPr>
        </p:nvSpPr>
        <p:spPr>
          <a:xfrm>
            <a:off x="2409300" y="1976602"/>
            <a:ext cx="5897400" cy="16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GitHub</a:t>
            </a:r>
            <a:endParaRPr sz="6400"/>
          </a:p>
        </p:txBody>
      </p:sp>
      <p:sp>
        <p:nvSpPr>
          <p:cNvPr id="284" name="Google Shape;284;p30"/>
          <p:cNvSpPr txBox="1"/>
          <p:nvPr>
            <p:ph idx="1" type="subTitle"/>
          </p:nvPr>
        </p:nvSpPr>
        <p:spPr>
          <a:xfrm>
            <a:off x="2023375" y="4130213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Jovana Janjatović, ELE zimski seminar u ISP 2026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850" y="700625"/>
            <a:ext cx="2035050" cy="203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717751" y="25335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 li vam ovako izgleda izrada projekata?</a:t>
            </a:r>
            <a:endParaRPr/>
          </a:p>
        </p:txBody>
      </p:sp>
      <p:pic>
        <p:nvPicPr>
          <p:cNvPr id="291" name="Google Shape;2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288" y="826050"/>
            <a:ext cx="6511436" cy="401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type="ctrTitle"/>
          </p:nvPr>
        </p:nvSpPr>
        <p:spPr>
          <a:xfrm>
            <a:off x="2750975" y="1646088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Git </a:t>
            </a:r>
            <a:r>
              <a:rPr b="1" lang="en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≠ </a:t>
            </a:r>
            <a:r>
              <a:rPr lang="en" sz="5100"/>
              <a:t>GitHub</a:t>
            </a:r>
            <a:endParaRPr sz="7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/>
          <p:nvPr>
            <p:ph type="title"/>
          </p:nvPr>
        </p:nvSpPr>
        <p:spPr>
          <a:xfrm>
            <a:off x="717750" y="666000"/>
            <a:ext cx="7708500" cy="38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Šta je </a:t>
            </a:r>
            <a:r>
              <a:rPr lang="en" sz="10000" u="sng">
                <a:solidFill>
                  <a:schemeClr val="hlink"/>
                </a:solidFill>
                <a:hlinkClick r:id="rId3"/>
              </a:rPr>
              <a:t>GitHub</a:t>
            </a:r>
            <a:r>
              <a:rPr lang="en" sz="10000"/>
              <a:t>?</a:t>
            </a:r>
            <a:endParaRPr sz="10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"/>
          <p:cNvSpPr txBox="1"/>
          <p:nvPr>
            <p:ph type="title"/>
          </p:nvPr>
        </p:nvSpPr>
        <p:spPr>
          <a:xfrm>
            <a:off x="640076" y="815350"/>
            <a:ext cx="3479400" cy="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README file</a:t>
            </a:r>
            <a:endParaRPr sz="3100"/>
          </a:p>
        </p:txBody>
      </p:sp>
      <p:pic>
        <p:nvPicPr>
          <p:cNvPr id="307" name="Google Shape;3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7700" y="220287"/>
            <a:ext cx="4650849" cy="47029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4"/>
          <p:cNvSpPr txBox="1"/>
          <p:nvPr>
            <p:ph type="title"/>
          </p:nvPr>
        </p:nvSpPr>
        <p:spPr>
          <a:xfrm>
            <a:off x="429775" y="2066550"/>
            <a:ext cx="3689700" cy="28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Figtree"/>
                <a:ea typeface="Figtree"/>
                <a:cs typeface="Figtree"/>
                <a:sym typeface="Figtree"/>
              </a:rPr>
              <a:t>Kratak vodič za projekat</a:t>
            </a:r>
            <a:endParaRPr sz="22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Figtree"/>
                <a:ea typeface="Figtree"/>
                <a:cs typeface="Figtree"/>
                <a:sym typeface="Figtree"/>
              </a:rPr>
              <a:t>Uvod, cilj, metodologija, </a:t>
            </a:r>
            <a:r>
              <a:rPr lang="en" sz="2200">
                <a:latin typeface="Figtree"/>
                <a:ea typeface="Figtree"/>
                <a:cs typeface="Figtree"/>
                <a:sym typeface="Figtree"/>
              </a:rPr>
              <a:t>struktura</a:t>
            </a:r>
            <a:r>
              <a:rPr lang="en" sz="2200">
                <a:latin typeface="Figtree"/>
                <a:ea typeface="Figtree"/>
                <a:cs typeface="Figtree"/>
                <a:sym typeface="Figtree"/>
              </a:rPr>
              <a:t> projekta </a:t>
            </a:r>
            <a:endParaRPr sz="22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5"/>
          <p:cNvPicPr preferRelativeResize="0"/>
          <p:nvPr/>
        </p:nvPicPr>
        <p:blipFill rotWithShape="1">
          <a:blip r:embed="rId3">
            <a:alphaModFix/>
          </a:blip>
          <a:srcRect b="30814" l="0" r="0" t="0"/>
          <a:stretch/>
        </p:blipFill>
        <p:spPr>
          <a:xfrm>
            <a:off x="593588" y="616850"/>
            <a:ext cx="7956826" cy="39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Pravimo folder i otvaramo ga u terminalu</a:t>
            </a:r>
            <a:endParaRPr/>
          </a:p>
        </p:txBody>
      </p:sp>
      <p:pic>
        <p:nvPicPr>
          <p:cNvPr id="319" name="Google Shape;3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750" y="1882525"/>
            <a:ext cx="122872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450" y="1177826"/>
            <a:ext cx="3526451" cy="3447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6"/>
          <p:cNvSpPr/>
          <p:nvPr/>
        </p:nvSpPr>
        <p:spPr>
          <a:xfrm>
            <a:off x="2811600" y="2545625"/>
            <a:ext cx="1560000" cy="5727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322" name="Google Shape;322;p36"/>
          <p:cNvCxnSpPr/>
          <p:nvPr/>
        </p:nvCxnSpPr>
        <p:spPr>
          <a:xfrm rot="10800000">
            <a:off x="7114600" y="3984800"/>
            <a:ext cx="2179800" cy="108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Git init </a:t>
            </a:r>
            <a:endParaRPr sz="2900"/>
          </a:p>
        </p:txBody>
      </p:sp>
      <p:pic>
        <p:nvPicPr>
          <p:cNvPr id="328" name="Google Shape;328;p37"/>
          <p:cNvPicPr preferRelativeResize="0"/>
          <p:nvPr/>
        </p:nvPicPr>
        <p:blipFill rotWithShape="1">
          <a:blip r:embed="rId3">
            <a:alphaModFix/>
          </a:blip>
          <a:srcRect b="0" l="0" r="10754" t="0"/>
          <a:stretch/>
        </p:blipFill>
        <p:spPr>
          <a:xfrm>
            <a:off x="722375" y="1402100"/>
            <a:ext cx="7948876" cy="210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7"/>
          <p:cNvSpPr/>
          <p:nvPr/>
        </p:nvSpPr>
        <p:spPr>
          <a:xfrm>
            <a:off x="4572000" y="2571750"/>
            <a:ext cx="869100" cy="370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0" name="Google Shape;330;p37"/>
          <p:cNvSpPr txBox="1"/>
          <p:nvPr>
            <p:ph type="title"/>
          </p:nvPr>
        </p:nvSpPr>
        <p:spPr>
          <a:xfrm>
            <a:off x="974501" y="42591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Figtree"/>
                <a:ea typeface="Figtree"/>
                <a:cs typeface="Figtree"/>
                <a:sym typeface="Figtree"/>
              </a:rPr>
              <a:t>Od foldera pravi Git repozitorijum</a:t>
            </a:r>
            <a:endParaRPr sz="26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1" name="Google Shape;331;p37"/>
          <p:cNvSpPr txBox="1"/>
          <p:nvPr>
            <p:ph type="title"/>
          </p:nvPr>
        </p:nvSpPr>
        <p:spPr>
          <a:xfrm>
            <a:off x="6706801" y="514325"/>
            <a:ext cx="25647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Figtree"/>
                <a:ea typeface="Figtree"/>
                <a:cs typeface="Figtree"/>
                <a:sym typeface="Figtree"/>
              </a:rPr>
              <a:t>(git initialize)</a:t>
            </a:r>
            <a:endParaRPr sz="2200"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/>
          <p:nvPr>
            <p:ph type="title"/>
          </p:nvPr>
        </p:nvSpPr>
        <p:spPr>
          <a:xfrm>
            <a:off x="3979825" y="450525"/>
            <a:ext cx="49299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</a:t>
            </a:r>
            <a:r>
              <a:rPr lang="en"/>
              <a:t> - </a:t>
            </a:r>
            <a:r>
              <a:rPr lang="en">
                <a:latin typeface="Figtree"/>
                <a:ea typeface="Figtree"/>
                <a:cs typeface="Figtree"/>
                <a:sym typeface="Figtree"/>
              </a:rPr>
              <a:t>vidimo šta se nalazi od fajlova u folderu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337" name="Google Shape;337;p38"/>
          <p:cNvPicPr preferRelativeResize="0"/>
          <p:nvPr/>
        </p:nvPicPr>
        <p:blipFill rotWithShape="1">
          <a:blip r:embed="rId3">
            <a:alphaModFix/>
          </a:blip>
          <a:srcRect b="0" l="0" r="51409" t="0"/>
          <a:stretch/>
        </p:blipFill>
        <p:spPr>
          <a:xfrm>
            <a:off x="252125" y="251050"/>
            <a:ext cx="3214875" cy="209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1075" y="2476325"/>
            <a:ext cx="5898649" cy="23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8"/>
          <p:cNvSpPr/>
          <p:nvPr/>
        </p:nvSpPr>
        <p:spPr>
          <a:xfrm>
            <a:off x="5718175" y="3500250"/>
            <a:ext cx="427500" cy="185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0" name="Google Shape;340;p38"/>
          <p:cNvSpPr/>
          <p:nvPr/>
        </p:nvSpPr>
        <p:spPr>
          <a:xfrm>
            <a:off x="3068075" y="3799350"/>
            <a:ext cx="4245900" cy="1018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341" name="Google Shape;341;p38"/>
          <p:cNvCxnSpPr/>
          <p:nvPr/>
        </p:nvCxnSpPr>
        <p:spPr>
          <a:xfrm>
            <a:off x="1329800" y="2574125"/>
            <a:ext cx="1510200" cy="1524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/>
          <p:nvPr>
            <p:ph type="title"/>
          </p:nvPr>
        </p:nvSpPr>
        <p:spPr>
          <a:xfrm>
            <a:off x="246975" y="1328400"/>
            <a:ext cx="8577300" cy="6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git</a:t>
            </a:r>
            <a:r>
              <a:rPr lang="en" sz="3100"/>
              <a:t> add .   							     	git add ime_fajla	</a:t>
            </a:r>
            <a:endParaRPr sz="3100"/>
          </a:p>
        </p:txBody>
      </p:sp>
      <p:sp>
        <p:nvSpPr>
          <p:cNvPr id="347" name="Google Shape;347;p39"/>
          <p:cNvSpPr txBox="1"/>
          <p:nvPr>
            <p:ph type="title"/>
          </p:nvPr>
        </p:nvSpPr>
        <p:spPr>
          <a:xfrm>
            <a:off x="246975" y="4202125"/>
            <a:ext cx="9221700" cy="6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Figtree"/>
                <a:ea typeface="Figtree"/>
                <a:cs typeface="Figtree"/>
                <a:sym typeface="Figtree"/>
              </a:rPr>
              <a:t>Selektuje promene (fajlove)koje će ući u sledeći commit</a:t>
            </a:r>
            <a:endParaRPr sz="26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8" name="Google Shape;348;p39"/>
          <p:cNvSpPr/>
          <p:nvPr/>
        </p:nvSpPr>
        <p:spPr>
          <a:xfrm>
            <a:off x="1230900" y="2004300"/>
            <a:ext cx="2393604" cy="1268028"/>
          </a:xfrm>
          <a:prstGeom prst="cloud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9" name="Google Shape;349;p39"/>
          <p:cNvSpPr txBox="1"/>
          <p:nvPr/>
        </p:nvSpPr>
        <p:spPr>
          <a:xfrm>
            <a:off x="1765250" y="2175275"/>
            <a:ext cx="170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Koristimo da označimo sve fajlove iz foldera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0" name="Google Shape;350;p39"/>
          <p:cNvSpPr/>
          <p:nvPr/>
        </p:nvSpPr>
        <p:spPr>
          <a:xfrm>
            <a:off x="1587967" y="1847475"/>
            <a:ext cx="56125" cy="313475"/>
          </a:xfrm>
          <a:custGeom>
            <a:rect b="b" l="l" r="r" t="t"/>
            <a:pathLst>
              <a:path extrusionOk="0" h="12539" w="2245">
                <a:moveTo>
                  <a:pt x="1106" y="0"/>
                </a:moveTo>
                <a:cubicBezTo>
                  <a:pt x="-1862" y="2968"/>
                  <a:pt x="2245" y="8342"/>
                  <a:pt x="2245" y="1253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 txBox="1"/>
          <p:nvPr>
            <p:ph type="title"/>
          </p:nvPr>
        </p:nvSpPr>
        <p:spPr>
          <a:xfrm>
            <a:off x="570926" y="22895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it commit -m “poruka”</a:t>
            </a:r>
            <a:endParaRPr/>
          </a:p>
        </p:txBody>
      </p:sp>
      <p:pic>
        <p:nvPicPr>
          <p:cNvPr id="356" name="Google Shape;356;p40"/>
          <p:cNvPicPr preferRelativeResize="0"/>
          <p:nvPr/>
        </p:nvPicPr>
        <p:blipFill rotWithShape="1">
          <a:blip r:embed="rId3">
            <a:alphaModFix/>
          </a:blip>
          <a:srcRect b="17639" l="-885" r="-875" t="-17640"/>
          <a:stretch/>
        </p:blipFill>
        <p:spPr>
          <a:xfrm>
            <a:off x="152400" y="704275"/>
            <a:ext cx="8839200" cy="91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0"/>
          <p:cNvSpPr txBox="1"/>
          <p:nvPr>
            <p:ph type="title"/>
          </p:nvPr>
        </p:nvSpPr>
        <p:spPr>
          <a:xfrm>
            <a:off x="570926" y="16856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Figtree"/>
                <a:ea typeface="Figtree"/>
                <a:cs typeface="Figtree"/>
                <a:sym typeface="Figtree"/>
              </a:rPr>
              <a:t>Sačuva poslednju promenu na projektu </a:t>
            </a:r>
            <a:endParaRPr sz="27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58" name="Google Shape;358;p40"/>
          <p:cNvSpPr txBox="1"/>
          <p:nvPr>
            <p:ph type="title"/>
          </p:nvPr>
        </p:nvSpPr>
        <p:spPr>
          <a:xfrm>
            <a:off x="570926" y="22583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log</a:t>
            </a:r>
            <a:endParaRPr/>
          </a:p>
        </p:txBody>
      </p:sp>
      <p:pic>
        <p:nvPicPr>
          <p:cNvPr id="359" name="Google Shape;359;p40"/>
          <p:cNvPicPr preferRelativeResize="0"/>
          <p:nvPr/>
        </p:nvPicPr>
        <p:blipFill rotWithShape="1">
          <a:blip r:embed="rId4">
            <a:alphaModFix/>
          </a:blip>
          <a:srcRect b="0" l="0" r="1729" t="0"/>
          <a:stretch/>
        </p:blipFill>
        <p:spPr>
          <a:xfrm>
            <a:off x="223650" y="2831000"/>
            <a:ext cx="8686049" cy="145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0"/>
          <p:cNvSpPr txBox="1"/>
          <p:nvPr>
            <p:ph type="title"/>
          </p:nvPr>
        </p:nvSpPr>
        <p:spPr>
          <a:xfrm>
            <a:off x="193350" y="4287650"/>
            <a:ext cx="875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Figtree"/>
                <a:ea typeface="Figtree"/>
                <a:cs typeface="Figtree"/>
                <a:sym typeface="Figtree"/>
              </a:rPr>
              <a:t>Omogućava da vidimo sve izvršene commitove (provera)</a:t>
            </a:r>
            <a:endParaRPr sz="2600"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g</a:t>
            </a:r>
            <a:r>
              <a:rPr lang="en" sz="3100"/>
              <a:t>it remote add origin </a:t>
            </a:r>
            <a:r>
              <a:rPr i="1" lang="en" sz="3100">
                <a:latin typeface="Figtree"/>
                <a:ea typeface="Figtree"/>
                <a:cs typeface="Figtree"/>
                <a:sym typeface="Figtree"/>
              </a:rPr>
              <a:t>url_projekta</a:t>
            </a:r>
            <a:endParaRPr i="1" sz="3100">
              <a:latin typeface="Figtree"/>
              <a:ea typeface="Figtree"/>
              <a:cs typeface="Figtree"/>
              <a:sym typeface="Figtree"/>
            </a:endParaRPr>
          </a:p>
        </p:txBody>
      </p:sp>
      <p:cxnSp>
        <p:nvCxnSpPr>
          <p:cNvPr id="366" name="Google Shape;366;p41"/>
          <p:cNvCxnSpPr/>
          <p:nvPr/>
        </p:nvCxnSpPr>
        <p:spPr>
          <a:xfrm flipH="1" rot="10800000">
            <a:off x="827550" y="1017725"/>
            <a:ext cx="1879200" cy="1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1"/>
          <p:cNvCxnSpPr/>
          <p:nvPr/>
        </p:nvCxnSpPr>
        <p:spPr>
          <a:xfrm rot="10800000">
            <a:off x="1842425" y="1092725"/>
            <a:ext cx="356700" cy="1563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8" name="Google Shape;368;p41"/>
          <p:cNvSpPr txBox="1"/>
          <p:nvPr/>
        </p:nvSpPr>
        <p:spPr>
          <a:xfrm>
            <a:off x="722375" y="2717525"/>
            <a:ext cx="320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Radi sa udaljenim repozitorijumima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369" name="Google Shape;369;p41"/>
          <p:cNvCxnSpPr>
            <a:endCxn id="365" idx="2"/>
          </p:cNvCxnSpPr>
          <p:nvPr/>
        </p:nvCxnSpPr>
        <p:spPr>
          <a:xfrm>
            <a:off x="2967126" y="1010525"/>
            <a:ext cx="1609500" cy="7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41"/>
          <p:cNvCxnSpPr/>
          <p:nvPr/>
        </p:nvCxnSpPr>
        <p:spPr>
          <a:xfrm rot="10800000">
            <a:off x="3886075" y="1065325"/>
            <a:ext cx="754500" cy="1069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41"/>
          <p:cNvSpPr txBox="1"/>
          <p:nvPr/>
        </p:nvSpPr>
        <p:spPr>
          <a:xfrm>
            <a:off x="4270250" y="2286425"/>
            <a:ext cx="479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Dodaje novu vezu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origin</a:t>
            </a:r>
            <a:endParaRPr i="1"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72" name="Google Shape;372;p41"/>
          <p:cNvSpPr txBox="1"/>
          <p:nvPr>
            <p:ph type="title"/>
          </p:nvPr>
        </p:nvSpPr>
        <p:spPr>
          <a:xfrm>
            <a:off x="827551" y="38344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Figtree"/>
                <a:ea typeface="Figtree"/>
                <a:cs typeface="Figtree"/>
                <a:sym typeface="Figtree"/>
              </a:rPr>
              <a:t>Povezujemo lokalni git repo sa repom na GitHub-u</a:t>
            </a:r>
            <a:endParaRPr i="1" sz="2600"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2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git push -u origin master</a:t>
            </a:r>
            <a:endParaRPr i="1" sz="3100">
              <a:latin typeface="Figtree"/>
              <a:ea typeface="Figtree"/>
              <a:cs typeface="Figtree"/>
              <a:sym typeface="Figtree"/>
            </a:endParaRPr>
          </a:p>
        </p:txBody>
      </p:sp>
      <p:cxnSp>
        <p:nvCxnSpPr>
          <p:cNvPr id="378" name="Google Shape;378;p42"/>
          <p:cNvCxnSpPr/>
          <p:nvPr/>
        </p:nvCxnSpPr>
        <p:spPr>
          <a:xfrm>
            <a:off x="827550" y="1031525"/>
            <a:ext cx="1371600" cy="6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42"/>
          <p:cNvCxnSpPr/>
          <p:nvPr/>
        </p:nvCxnSpPr>
        <p:spPr>
          <a:xfrm rot="10800000">
            <a:off x="1842425" y="1092725"/>
            <a:ext cx="356700" cy="1563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42"/>
          <p:cNvSpPr txBox="1"/>
          <p:nvPr/>
        </p:nvSpPr>
        <p:spPr>
          <a:xfrm>
            <a:off x="722375" y="2717525"/>
            <a:ext cx="320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Šaljemo lokalne izmene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381" name="Google Shape;381;p42"/>
          <p:cNvCxnSpPr/>
          <p:nvPr/>
        </p:nvCxnSpPr>
        <p:spPr>
          <a:xfrm>
            <a:off x="2967126" y="1010525"/>
            <a:ext cx="2386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42"/>
          <p:cNvCxnSpPr/>
          <p:nvPr/>
        </p:nvCxnSpPr>
        <p:spPr>
          <a:xfrm rot="10800000">
            <a:off x="3886075" y="1065325"/>
            <a:ext cx="754500" cy="1069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3" name="Google Shape;383;p42"/>
          <p:cNvSpPr txBox="1"/>
          <p:nvPr/>
        </p:nvSpPr>
        <p:spPr>
          <a:xfrm>
            <a:off x="4270250" y="2286425"/>
            <a:ext cx="479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Sa grane </a:t>
            </a:r>
            <a:r>
              <a:rPr i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master 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na GitHub (</a:t>
            </a:r>
            <a:r>
              <a:rPr i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origin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)</a:t>
            </a:r>
            <a:endParaRPr i="1"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84" name="Google Shape;384;p42"/>
          <p:cNvSpPr txBox="1"/>
          <p:nvPr>
            <p:ph type="title"/>
          </p:nvPr>
        </p:nvSpPr>
        <p:spPr>
          <a:xfrm>
            <a:off x="827551" y="38344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Figtree"/>
                <a:ea typeface="Figtree"/>
                <a:cs typeface="Figtree"/>
                <a:sym typeface="Figtree"/>
              </a:rPr>
              <a:t>Šaljemo lokalne commitove na GitHub</a:t>
            </a:r>
            <a:endParaRPr i="1" sz="26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85" name="Google Shape;385;p42"/>
          <p:cNvSpPr/>
          <p:nvPr/>
        </p:nvSpPr>
        <p:spPr>
          <a:xfrm>
            <a:off x="2363725" y="598925"/>
            <a:ext cx="521100" cy="466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86" name="Google Shape;386;p42"/>
          <p:cNvSpPr txBox="1"/>
          <p:nvPr/>
        </p:nvSpPr>
        <p:spPr>
          <a:xfrm>
            <a:off x="4902700" y="1092725"/>
            <a:ext cx="266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Pamti vezu origin master</a:t>
            </a:r>
            <a:endParaRPr i="1"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387" name="Google Shape;387;p42"/>
          <p:cNvCxnSpPr>
            <a:stCxn id="385" idx="4"/>
            <a:endCxn id="386" idx="1"/>
          </p:cNvCxnSpPr>
          <p:nvPr/>
        </p:nvCxnSpPr>
        <p:spPr>
          <a:xfrm>
            <a:off x="2624275" y="1065425"/>
            <a:ext cx="2278500" cy="22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"/>
          <p:cNvSpPr txBox="1"/>
          <p:nvPr>
            <p:ph type="title"/>
          </p:nvPr>
        </p:nvSpPr>
        <p:spPr>
          <a:xfrm>
            <a:off x="717751" y="20635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Zadatak: Napraviti i dodati na GitHub README fajl </a:t>
            </a:r>
            <a:endParaRPr sz="3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/>
          <p:nvPr>
            <p:ph type="title"/>
          </p:nvPr>
        </p:nvSpPr>
        <p:spPr>
          <a:xfrm>
            <a:off x="717751" y="3135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</a:t>
            </a:r>
            <a:endParaRPr/>
          </a:p>
        </p:txBody>
      </p:sp>
      <p:pic>
        <p:nvPicPr>
          <p:cNvPr id="398" name="Google Shape;398;p44"/>
          <p:cNvPicPr preferRelativeResize="0"/>
          <p:nvPr/>
        </p:nvPicPr>
        <p:blipFill rotWithShape="1">
          <a:blip r:embed="rId3">
            <a:alphaModFix/>
          </a:blip>
          <a:srcRect b="0" l="870" r="-870" t="0"/>
          <a:stretch/>
        </p:blipFill>
        <p:spPr>
          <a:xfrm>
            <a:off x="225050" y="941675"/>
            <a:ext cx="8763151" cy="315927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4"/>
          <p:cNvSpPr/>
          <p:nvPr/>
        </p:nvSpPr>
        <p:spPr>
          <a:xfrm>
            <a:off x="6493425" y="1488375"/>
            <a:ext cx="983100" cy="491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00" name="Google Shape;400;p44"/>
          <p:cNvSpPr txBox="1"/>
          <p:nvPr>
            <p:ph type="title"/>
          </p:nvPr>
        </p:nvSpPr>
        <p:spPr>
          <a:xfrm>
            <a:off x="614026" y="419717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praviš kopiju nečijeg repozitorijuma, koja se kopira na tvoj nalog</a:t>
            </a:r>
            <a:endParaRPr sz="3600"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425" y="481950"/>
            <a:ext cx="7337874" cy="427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title"/>
          </p:nvPr>
        </p:nvSpPr>
        <p:spPr>
          <a:xfrm>
            <a:off x="722376" y="3827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Sad se repo nalazi na mom nalogu</a:t>
            </a:r>
            <a:endParaRPr/>
          </a:p>
        </p:txBody>
      </p:sp>
      <p:pic>
        <p:nvPicPr>
          <p:cNvPr id="411" name="Google Shape;41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713" y="1045425"/>
            <a:ext cx="745381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clone </a:t>
            </a:r>
            <a:r>
              <a:rPr lang="en">
                <a:latin typeface="Figtree"/>
                <a:ea typeface="Figtree"/>
                <a:cs typeface="Figtree"/>
                <a:sym typeface="Figtree"/>
              </a:rPr>
              <a:t>link_projekta</a:t>
            </a:r>
            <a:r>
              <a:rPr lang="en"/>
              <a:t> </a:t>
            </a:r>
            <a:endParaRPr/>
          </a:p>
        </p:txBody>
      </p:sp>
      <p:pic>
        <p:nvPicPr>
          <p:cNvPr id="417" name="Google Shape;41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375" y="1066300"/>
            <a:ext cx="745381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7"/>
          <p:cNvSpPr/>
          <p:nvPr/>
        </p:nvSpPr>
        <p:spPr>
          <a:xfrm>
            <a:off x="4077425" y="3219025"/>
            <a:ext cx="2561400" cy="311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8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d ime_repoa</a:t>
            </a:r>
            <a:endParaRPr/>
          </a:p>
        </p:txBody>
      </p:sp>
      <p:sp>
        <p:nvSpPr>
          <p:cNvPr id="424" name="Google Shape;424;p48"/>
          <p:cNvSpPr txBox="1"/>
          <p:nvPr>
            <p:ph type="title"/>
          </p:nvPr>
        </p:nvSpPr>
        <p:spPr>
          <a:xfrm>
            <a:off x="722376" y="10820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Figtree"/>
                <a:ea typeface="Figtree"/>
                <a:cs typeface="Figtree"/>
                <a:sym typeface="Figtree"/>
              </a:rPr>
              <a:t>u</a:t>
            </a:r>
            <a:r>
              <a:rPr lang="en" sz="2600">
                <a:latin typeface="Figtree"/>
                <a:ea typeface="Figtree"/>
                <a:cs typeface="Figtree"/>
                <a:sym typeface="Figtree"/>
              </a:rPr>
              <a:t>djemo u taj folder gde će se klonirati repo</a:t>
            </a:r>
            <a:endParaRPr sz="26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25" name="Google Shape;425;p48"/>
          <p:cNvSpPr txBox="1"/>
          <p:nvPr>
            <p:ph type="title"/>
          </p:nvPr>
        </p:nvSpPr>
        <p:spPr>
          <a:xfrm>
            <a:off x="717751" y="214117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Dalje sve normalno…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9"/>
          <p:cNvSpPr txBox="1"/>
          <p:nvPr>
            <p:ph type="title"/>
          </p:nvPr>
        </p:nvSpPr>
        <p:spPr>
          <a:xfrm>
            <a:off x="853601" y="188835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Hvala na pažnji!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